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383280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914400"/>
            <a:ext cx="73152" cy="22860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Clinical Triage System</a:t>
            </a:r>
          </a:p>
          <a:p>
            <a:pPr algn="l">
              <a:spcBef>
                <a:spcPts val="800"/>
              </a:spcBef>
              <a:defRPr sz="1800">
                <a:solidFill>
                  <a:srgbClr val="818CF8"/>
                </a:solidFill>
              </a:defRPr>
            </a:pPr>
            <a:r>
              <a:t>AI-Powered Clinical Triage for Hospital Reception</a:t>
            </a:r>
          </a:p>
          <a:p>
            <a:pPr algn="l">
              <a:spcBef>
                <a:spcPts val="800"/>
              </a:spcBef>
              <a:defRPr sz="1800">
                <a:solidFill>
                  <a:srgbClr val="818CF8"/>
                </a:solidFill>
              </a:defRPr>
            </a:pPr>
            <a:r>
              <a:t>March 2026 — v3.0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4748B"/>
                </a:solidFill>
              </a:defRPr>
            </a:pPr>
            <a:r>
              <a:t>AI-Powered Clinical Triage for Hospital Reception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4A3B8"/>
                </a:solidFill>
              </a:defRPr>
            </a:pPr>
            <a:r>
              <a:t>Dr. Aqib Mumtaz, Ph.D. — Head of AI</a:t>
            </a:r>
          </a:p>
          <a:p>
            <a:pPr algn="l">
              <a:defRPr sz="1100">
                <a:solidFill>
                  <a:srgbClr val="64748B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Vision — Every Patient Deserves Instant, Compassionate Care — In Their Own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Imagine walking into a hospital — anxious, in pain, possibly in a foreign city — and being greeted instantly by a warm, intelligent assistant who speaks your language, understands your symptoms, and guides you to the right doctor in under 2 minutes.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No waiting. No language barriers. No paperwork. Just care.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That's what our AI Clinical Triage System delivers — today. With real-time disease cluster scoring, 173 multilingual symptom aliases, and intelligent triage that adapts by age, gender, and clinical context.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 — Hospital Reception is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The Patient Experience Today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Patient arrives (anxious, in pain)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↓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Wait in queue: 15-45 minutes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↓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Struggle to communicate: language barriers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↓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Misrouted to wrong department: 30% of the time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↓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Wait again at wrong department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↓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Finally see the right doctor: 1-2 hours later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The Numbers Tell the Story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Problem | Impact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15-45 min</a:t>
            </a:r>
            <a:r>
              <a:rPr sz="1200">
                <a:solidFill>
                  <a:srgbClr val="0F172A"/>
                </a:solidFill>
              </a:rPr>
              <a:t> average wait at reception | Patient dissatisfaction, delayed care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30%</a:t>
            </a:r>
            <a:r>
              <a:rPr sz="1200">
                <a:solidFill>
                  <a:srgbClr val="0F172A"/>
                </a:solidFill>
              </a:rPr>
              <a:t> of patients misrouted | Wasted doctor time, hospital inefficiency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6-9 reception staff</a:t>
            </a:r>
            <a:r>
              <a:rPr sz="1200">
                <a:solidFill>
                  <a:srgbClr val="0F172A"/>
                </a:solidFill>
              </a:rPr>
              <a:t> required for 24/7 coverage | $180K-350K/year labor cost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Zero documentation</a:t>
            </a:r>
            <a:r>
              <a:rPr sz="1200">
                <a:solidFill>
                  <a:srgbClr val="0F172A"/>
                </a:solidFill>
              </a:rPr>
              <a:t> of initial complaints | Doctor has no context before consultation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Peak hours</a:t>
            </a:r>
            <a:r>
              <a:rPr sz="1200">
                <a:solidFill>
                  <a:srgbClr val="0F172A"/>
                </a:solidFill>
              </a:rPr>
              <a:t> overwhelm reception | Emergency patients delayed by routine cases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Multilingual populations</a:t>
            </a:r>
            <a:r>
              <a:rPr sz="1200">
                <a:solidFill>
                  <a:srgbClr val="0F172A"/>
                </a:solidFill>
              </a:rPr>
              <a:t> underserved | Pakistan alone has 4+ major languages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Who Suffers?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Patients</a:t>
            </a:r>
            <a:r>
              <a:rPr sz="1200">
                <a:solidFill>
                  <a:srgbClr val="0F172A"/>
                </a:solidFill>
              </a:rPr>
              <a:t> — Anxiety, delayed treatment, communication frustration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Hospitals</a:t>
            </a:r>
            <a:r>
              <a:rPr sz="1200">
                <a:solidFill>
                  <a:srgbClr val="0F172A"/>
                </a:solidFill>
              </a:rPr>
              <a:t> — High staffing costs, inefficient triage, liability risk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Doctors</a:t>
            </a:r>
            <a:r>
              <a:rPr sz="1200">
                <a:solidFill>
                  <a:srgbClr val="0F172A"/>
                </a:solidFill>
              </a:rPr>
              <a:t> — No patient context, repeated history-taking, wasted time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Healthcare System</a:t>
            </a:r>
            <a:r>
              <a:rPr sz="1200">
                <a:solidFill>
                  <a:srgbClr val="0F172A"/>
                </a:solidFill>
              </a:rPr>
              <a:t> — Bottleneck at the very first touchpoint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Our Solution — AI That Talks, Listens, and Cares — In 6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What We Built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A </a:t>
            </a:r>
            <a:r>
              <a:rPr sz="1200" b="1">
                <a:solidFill>
                  <a:srgbClr val="0F172A"/>
                </a:solidFill>
              </a:rPr>
              <a:t>real-time, voice-based AI clinical triage platform</a:t>
            </a:r>
            <a:r>
              <a:rPr sz="1200">
                <a:solidFill>
                  <a:srgbClr val="0F172A"/>
                </a:solidFill>
              </a:rPr>
              <a:t> that: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1. </a:t>
            </a:r>
            <a:r>
              <a:rPr sz="1200" b="1">
                <a:solidFill>
                  <a:srgbClr val="0F172A"/>
                </a:solidFill>
              </a:rPr>
              <a:t>Greets</a:t>
            </a:r>
            <a:r>
              <a:rPr sz="1200">
                <a:solidFill>
                  <a:srgbClr val="0F172A"/>
                </a:solidFill>
              </a:rPr>
              <a:t> the patient warmly in their preferred language (pure Urdu script, no English mixing)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2. </a:t>
            </a:r>
            <a:r>
              <a:rPr sz="1200" b="1">
                <a:solidFill>
                  <a:srgbClr val="0F172A"/>
                </a:solidFill>
              </a:rPr>
              <a:t>Listens</a:t>
            </a:r>
            <a:r>
              <a:rPr sz="1200">
                <a:solidFill>
                  <a:srgbClr val="0F172A"/>
                </a:solidFill>
              </a:rPr>
              <a:t> with two-layer noise filtering — Silero VAD filters background speakers, confidence threshold drops noise artifacts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3. </a:t>
            </a:r>
            <a:r>
              <a:rPr sz="1200" b="1">
                <a:solidFill>
                  <a:srgbClr val="0F172A"/>
                </a:solidFill>
              </a:rPr>
              <a:t>Scores</a:t>
            </a:r>
            <a:r>
              <a:rPr sz="1200">
                <a:solidFill>
                  <a:srgbClr val="0F172A"/>
                </a:solidFill>
              </a:rPr>
              <a:t> symptoms in real-time against 70+ conditions using disease cluster scoring engine with 173 multilingual aliases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4. </a:t>
            </a:r>
            <a:r>
              <a:rPr sz="1200" b="1">
                <a:solidFill>
                  <a:srgbClr val="0F172A"/>
                </a:solidFill>
              </a:rPr>
              <a:t>Asks</a:t>
            </a:r>
            <a:r>
              <a:rPr sz="1200">
                <a:solidFill>
                  <a:srgbClr val="0F172A"/>
                </a:solidFill>
              </a:rPr>
              <a:t> targeted follow-up questions based on differential diagnosis — "chest pain" → asks about shortness of breath to differentiate Angina vs GERD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5. </a:t>
            </a:r>
            <a:r>
              <a:rPr sz="1200" b="1">
                <a:solidFill>
                  <a:srgbClr val="0F172A"/>
                </a:solidFill>
              </a:rPr>
              <a:t>Triages</a:t>
            </a:r>
            <a:r>
              <a:rPr sz="1200">
                <a:solidFill>
                  <a:srgbClr val="0F172A"/>
                </a:solidFill>
              </a:rPr>
              <a:t> using intelligent scoring — cross-condition boost, age/gender rules, doctor availability check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6. </a:t>
            </a:r>
            <a:r>
              <a:rPr sz="1200" b="1">
                <a:solidFill>
                  <a:srgbClr val="0F172A"/>
                </a:solidFill>
              </a:rPr>
              <a:t>Directs</a:t>
            </a:r>
            <a:r>
              <a:rPr sz="1200">
                <a:solidFill>
                  <a:srgbClr val="0F172A"/>
                </a:solidFill>
              </a:rPr>
              <a:t> the patient to the exact doctor, department, and room shown in triage scores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7. </a:t>
            </a:r>
            <a:r>
              <a:rPr sz="1200" b="1">
                <a:solidFill>
                  <a:srgbClr val="0F172A"/>
                </a:solidFill>
              </a:rPr>
              <a:t>Documents</a:t>
            </a:r>
            <a:r>
              <a:rPr sz="1200">
                <a:solidFill>
                  <a:srgbClr val="0F172A"/>
                </a:solidFill>
              </a:rPr>
              <a:t> the entire conversation + live patient screening card with printable triage slip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In Action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Patient: "مجھے سینے میں درد ہو رہا ہے"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(I'm having chest pain)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Agent (Amina): "آپ کی تکلیف سن کر افسوس ہوا۔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کب سے ہے یہ درد؟"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(I'm sorry to hear that. How long have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you had this pain?)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Patient: "کل رات سے"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(Since last night)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Agent: "میں آپ کو ابھی ڈاکٹر علی رضا،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کارڈیالوجسٹ کے پاس بھیج رہی ہوں۔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کمرہ نمبر 302، تیسری منزل۔"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(I'm sending you to Dr. Ali Raza,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Cardiologist. Room 302, 3rd floor.)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Total time: 90 seconds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                                             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How It Works — The Technology Behind the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The Pipeline (under 5 seconds end-to-end)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Patient Speaks          AI Processes                AI Responds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┌──────────┐         ┌────────────────────┐        ┌──────────┐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Browser  │ WebRTC  │  Cloud AI Pipeline │ WebRTC │ Browser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Mic      │───────→ │                    │───────→│ Speaker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└──────────┘  ~50ms  │ VAD: ~300ms        │  ~50ms └──────────┘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STT: 500ms (filtered)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LLM: 800ms         │ ┌──────────────┐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Triage: &lt;10ms      │ │ Triage   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│ TTS: 500ms (cached)│ │ Dashboard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└────────────────────┘ │ (live scores)│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Total: ~3-5s          └──────────────┘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Key Technologies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Component | What It Does | Why It's Special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|-----------|-------------|-----------------|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Deepgram Nova-3 / OpenAI gpt-4o-transcribe</a:t>
            </a:r>
            <a:r>
              <a:rPr sz="1200">
                <a:solidFill>
                  <a:srgbClr val="0F172A"/>
                </a:solidFill>
              </a:rPr>
              <a:t> | Converts speech to text in real-time | Confidence-filtered — drops background noise (&lt; 0.70). 95%+ accuracy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Silero VAD</a:t>
            </a:r>
            <a:r>
              <a:rPr sz="1200">
                <a:solidFill>
                  <a:srgbClr val="0F172A"/>
                </a:solidFill>
              </a:rPr>
              <a:t> | Neural voice activity detection | Filters distant speakers (confidence=0.80, min_volume=0.65)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Triage Scoring Engine</a:t>
            </a:r>
            <a:r>
              <a:rPr sz="1200">
                <a:solidFill>
                  <a:srgbClr val="0F172A"/>
                </a:solidFill>
              </a:rPr>
              <a:t> | Matches symptoms to 70+ conditions | 173 aliases, exact matching, cross-condition boost, age/gender rules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GPT-4o-mini</a:t>
            </a:r>
            <a:r>
              <a:rPr sz="1200">
                <a:solidFill>
                  <a:srgbClr val="0F172A"/>
                </a:solidFill>
              </a:rPr>
              <a:t> | Understands context, generates responses | Follows triage directive — MUST refer to highest-scoring department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OpenAI TTS / ElevenLabs</a:t>
            </a:r>
            <a:r>
              <a:rPr sz="1200">
                <a:solidFill>
                  <a:srgbClr val="0F172A"/>
                </a:solidFill>
              </a:rPr>
              <a:t> | Converts text to natural speech | Human-like voices, number-to-Urdu conversion, audio caching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WebRTC</a:t>
            </a:r>
            <a:r>
              <a:rPr sz="1200">
                <a:solidFill>
                  <a:srgbClr val="0F172A"/>
                </a:solidFill>
              </a:rPr>
              <a:t> | Streams audio browser ↔ server | Zero latency, built-in echo cancellation, works through firewalls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Pipecat-AI</a:t>
            </a:r>
            <a:r>
              <a:rPr sz="1200">
                <a:solidFill>
                  <a:srgbClr val="0F172A"/>
                </a:solidFill>
              </a:rPr>
              <a:t> | Orchestrates the full pipeline | Production-grade, handles interruptions, built-in metrics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What Makes It Different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Clinical triage, not chatbot</a:t>
            </a:r>
            <a:r>
              <a:rPr sz="1200">
                <a:solidFill>
                  <a:srgbClr val="0F172A"/>
                </a:solidFill>
              </a:rPr>
              <a:t> — Real-time disease cluster scoring against 70+ conditions. Live confidence percentages per department.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173 multilingual symptom aliases</a:t>
            </a:r>
            <a:r>
              <a:rPr sz="1200">
                <a:solidFill>
                  <a:srgbClr val="0F172A"/>
                </a:solidFill>
              </a:rPr>
              <a:t> — Patient says "کھانسی" → scores as "cough" across all conditions. Urdu, Roman Urdu, English, and common mistranscriptions covered.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Intelligent scoring</a:t>
            </a:r>
            <a:r>
              <a:rPr sz="1200">
                <a:solidFill>
                  <a:srgbClr val="0F172A"/>
                </a:solidFill>
              </a:rPr>
              <a:t> — Cross-condition boost, vital boost, severity boost, age/gender department rules. Scoring aligns with LLM referral decisions.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Two-layer noise filtering</a:t>
            </a:r>
            <a:r>
              <a:rPr sz="1200">
                <a:solidFill>
                  <a:srgbClr val="0F172A"/>
                </a:solidFill>
              </a:rPr>
              <a:t> — Silero VAD (neural, 0.80 confidence) + Deepgram STT confidence threshold (0.70). Background speakers filtered without blocking single-word patient responses.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Culturally intelligent</a:t>
            </a:r>
            <a:r>
              <a:rPr sz="1200">
                <a:solidFill>
                  <a:srgbClr val="0F172A"/>
                </a:solidFill>
              </a:rPr>
              <a:t> — Gender grammar, cultural honorifics, pure Urdu script output (no English mixing). Number-to-Urdu TTS conversion.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Hospital-specific</a:t>
            </a:r>
            <a:r>
              <a:rPr sz="1200">
                <a:solidFill>
                  <a:srgbClr val="0F172A"/>
                </a:solidFill>
              </a:rPr>
              <a:t> — Configured for specific doctors, rooms, departments. Doctor availability checked before referral.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Live triage dashboard</a:t>
            </a:r>
            <a:r>
              <a:rPr sz="1200">
                <a:solidFill>
                  <a:srgbClr val="0F172A"/>
                </a:solidFill>
              </a:rPr>
              <a:t> — Urdu tooltips on hover for all 199 symptoms. Real-time scoring updates with each new symptom.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265 automated tests</a:t>
            </a:r>
            <a:r>
              <a:rPr sz="1200">
                <a:solidFill>
                  <a:srgbClr val="0F172A"/>
                </a:solidFill>
              </a:rPr>
              <a:t> — 188 triage scoring + 77 platform tests, 100% pass rate.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Market — Healthcare AI: Fastest Growing AI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Global Market Opportunity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Market | 2024 | Projected | CAGR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|--------|------|-----------|------|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Global Healthcare AI | $14.9B | $110.6B by 2030 | 38.6%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Conversational AI in Healthcare | $13.7B | $48.9B by 2030 | 23.8%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Middle East Healthcare AI | $436M | $8.4B by 2033 | 37.0%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Middle East Hospital Services | $114B | $172.8B by 2033 | 4.7%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*Sources: Grand View Research, MarketsandMarkets, BCC Research (2024-2025)*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Our Target Markets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Phase 1 — Pakistan (Year 1):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1,830 hospitals</a:t>
            </a:r>
            <a:r>
              <a:rPr sz="1200">
                <a:solidFill>
                  <a:srgbClr val="0F172A"/>
                </a:solidFill>
              </a:rPr>
              <a:t> (1,147 public + 683 private), 123,000+ beds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$7B hospital market (2024), growing at 4.3% CAGR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240M population, 4+ major languages, &lt;5% AI adoption at reception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Phase 2 — Saudi Arabia &amp; Gulf (Year 1-2):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Saudi Arabia</a:t>
            </a:r>
            <a:r>
              <a:rPr sz="1200">
                <a:solidFill>
                  <a:srgbClr val="0F172A"/>
                </a:solidFill>
              </a:rPr>
              <a:t>: 290+ hospitals + 2,300 primary care centers under privatization. $67B healthcare market. Vision 2030 investing $65B in healthcare infrastructure. Recruiting 175K healthcare professionals by 2030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UAE</a:t>
            </a:r>
            <a:r>
              <a:rPr sz="1200">
                <a:solidFill>
                  <a:srgbClr val="0F172A"/>
                </a:solidFill>
              </a:rPr>
              <a:t>: 972 hospitals and healthcare facilities. $22B healthcare market, growing to $50B by 2029 (8% CAGR)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Qatar</a:t>
            </a:r>
            <a:r>
              <a:rPr sz="1200">
                <a:solidFill>
                  <a:srgbClr val="0F172A"/>
                </a:solidFill>
              </a:rPr>
              <a:t>: $12B healthcare sector, ranked #1 in Arab world for healthcare quality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Kuwait, Bahrain, Oman</a:t>
            </a:r>
            <a:r>
              <a:rPr sz="1200">
                <a:solidFill>
                  <a:srgbClr val="0F172A"/>
                </a:solidFill>
              </a:rPr>
              <a:t>: Mandatory health insurance driving expansion. Active digital health initiatives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Phase 3 — Malaysia &amp; Expansion (Year 2-3):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Malaysia</a:t>
            </a:r>
            <a:r>
              <a:rPr sz="1200">
                <a:solidFill>
                  <a:srgbClr val="0F172A"/>
                </a:solidFill>
              </a:rPr>
              <a:t>: 355 hospitals (148 public + 207 private). $28B healthcare market, growing to $48B by 2028 (13.5% CAGR). Government MyDigital push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India</a:t>
            </a:r>
            <a:r>
              <a:rPr sz="1200">
                <a:solidFill>
                  <a:srgbClr val="0F172A"/>
                </a:solidFill>
              </a:rPr>
              <a:t>: 70,000+ hospitals. World's largest healthcare market by volume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Indonesia</a:t>
            </a:r>
            <a:r>
              <a:rPr sz="1200">
                <a:solidFill>
                  <a:srgbClr val="0F172A"/>
                </a:solidFill>
              </a:rPr>
              <a:t>: 3,000+ hospitals, 280M population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Total Addressable Market (TAM)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Segment | Hospitals | Healthcare Market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|---------|-----------|-------------------|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Pakistan | ~1,830 | $7B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Saudi Arabia | ~2,590 | $67B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UAE | ~972 | $22B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Other GCC (Qatar, Kuwait, Bahrain, Oman) | ~500 | $30B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Malaysia | ~355 | $28B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Phase 1-3 Total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~6,250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$154B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India + Indonesia (expansion) | ~73,000 | $200B+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*Sources: WHO EMRO, Statista, US-Saudi Business Council, UAE Open Data, Malaysia MOH (2024)*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Competitive Advantage — Why We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1. Real-Time Clinical Triage with Multilingual Voice — Nobody Else Does This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Most healthcare AI is </a:t>
            </a:r>
            <a:r>
              <a:rPr sz="1200" b="1">
                <a:solidFill>
                  <a:srgbClr val="0F172A"/>
                </a:solidFill>
              </a:rPr>
              <a:t>text-based</a:t>
            </a:r>
            <a:r>
              <a:rPr sz="1200">
                <a:solidFill>
                  <a:srgbClr val="0F172A"/>
                </a:solidFill>
              </a:rPr>
              <a:t>, </a:t>
            </a:r>
            <a:r>
              <a:rPr sz="1200" b="1">
                <a:solidFill>
                  <a:srgbClr val="0F172A"/>
                </a:solidFill>
              </a:rPr>
              <a:t>English-only</a:t>
            </a:r>
            <a:r>
              <a:rPr sz="1200">
                <a:solidFill>
                  <a:srgbClr val="0F172A"/>
                </a:solidFill>
              </a:rPr>
              <a:t>, and </a:t>
            </a:r>
            <a:r>
              <a:rPr sz="1200" b="1">
                <a:solidFill>
                  <a:srgbClr val="0F172A"/>
                </a:solidFill>
              </a:rPr>
              <a:t>diagnosis-focused</a:t>
            </a:r>
            <a:r>
              <a:rPr sz="1200">
                <a:solidFill>
                  <a:srgbClr val="0F172A"/>
                </a:solidFill>
              </a:rPr>
              <a:t>. We are the only solution that: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Performs </a:t>
            </a:r>
            <a:r>
              <a:rPr sz="1200" b="1">
                <a:solidFill>
                  <a:srgbClr val="0F172A"/>
                </a:solidFill>
              </a:rPr>
              <a:t>real-time disease cluster scoring</a:t>
            </a:r>
            <a:r>
              <a:rPr sz="1200">
                <a:solidFill>
                  <a:srgbClr val="0F172A"/>
                </a:solidFill>
              </a:rPr>
              <a:t> against 70+ conditions with live confidence percentages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Handles </a:t>
            </a:r>
            <a:r>
              <a:rPr sz="1200" b="1">
                <a:solidFill>
                  <a:srgbClr val="0F172A"/>
                </a:solidFill>
              </a:rPr>
              <a:t>voice conversations</a:t>
            </a:r>
            <a:r>
              <a:rPr sz="1200">
                <a:solidFill>
                  <a:srgbClr val="0F172A"/>
                </a:solidFill>
              </a:rPr>
              <a:t> in Urdu, Arabic, and Punjabi (RTL languages) with 173 symptom aliases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Uses </a:t>
            </a:r>
            <a:r>
              <a:rPr sz="1200" b="1">
                <a:solidFill>
                  <a:srgbClr val="0F172A"/>
                </a:solidFill>
              </a:rPr>
              <a:t>intelligent scoring</a:t>
            </a:r>
            <a:r>
              <a:rPr sz="1200">
                <a:solidFill>
                  <a:srgbClr val="0F172A"/>
                </a:solidFill>
              </a:rPr>
              <a:t> with cross-condition boost, age/gender rules, and exact symptom matching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Filters </a:t>
            </a:r>
            <a:r>
              <a:rPr sz="1200" b="1">
                <a:solidFill>
                  <a:srgbClr val="0F172A"/>
                </a:solidFill>
              </a:rPr>
              <a:t>background noise</a:t>
            </a:r>
            <a:r>
              <a:rPr sz="1200">
                <a:solidFill>
                  <a:srgbClr val="0F172A"/>
                </a:solidFill>
              </a:rPr>
              <a:t> with two-layer VAD + STT confidence filtering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Applies </a:t>
            </a:r>
            <a:r>
              <a:rPr sz="1200" b="1">
                <a:solidFill>
                  <a:srgbClr val="0F172A"/>
                </a:solidFill>
              </a:rPr>
              <a:t>cultural communication norms</a:t>
            </a:r>
            <a:r>
              <a:rPr sz="1200">
                <a:solidFill>
                  <a:srgbClr val="0F172A"/>
                </a:solidFill>
              </a:rPr>
              <a:t> (Islamic greetings, gender grammar, pure Urdu script)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2. Hospital-Specific, Not Generic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Generic Health AI | Our AI Clinical Triage System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|-------------------|----------|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"You might have condition X" | "REFER TO → Dr. Ali Raza, Cardiology, Room 302 (48% match)"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No real-time scoring | Live disease cluster scoring — 70+ conditions, ICD-10 codes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No context of hospital | Knows every doctor, room, schedule, and availability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Diagnosis-focused (risky) | Triage-focused (safe, referral-based, scoring-driven)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English only | 173 symptom aliases across Urdu, English, Roman Urdu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Requires medical certification | Reception function — no medical claims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3. Deployment Speed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Generic EHR Integration:  6-12 months, $200K+ implementation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Our Setup:            2-4 hours, $500/month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We don't replace the EHR — we sit </a:t>
            </a:r>
            <a:r>
              <a:rPr sz="1200" b="1">
                <a:solidFill>
                  <a:srgbClr val="0F172A"/>
                </a:solidFill>
              </a:rPr>
              <a:t>in front</a:t>
            </a:r>
            <a:r>
              <a:rPr sz="1200">
                <a:solidFill>
                  <a:srgbClr val="0F172A"/>
                </a:solidFill>
              </a:rPr>
              <a:t> of it. The agent handles the reception interaction, then passes the documented conversation to the existing hospital system.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4. Cost Structure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Our per-interaction cost of </a:t>
            </a:r>
            <a:r>
              <a:rPr sz="1200" b="1">
                <a:solidFill>
                  <a:srgbClr val="0F172A"/>
                </a:solidFill>
              </a:rPr>
              <a:t>$0.04-0.06</a:t>
            </a:r>
            <a:r>
              <a:rPr sz="1200">
                <a:solidFill>
                  <a:srgbClr val="0F172A"/>
                </a:solidFill>
              </a:rPr>
              <a:t> (dropping to </a:t>
            </a:r>
            <a:r>
              <a:rPr sz="1200" b="1">
                <a:solidFill>
                  <a:srgbClr val="0F172A"/>
                </a:solidFill>
              </a:rPr>
              <a:t>$0.02-0.04</a:t>
            </a:r>
            <a:r>
              <a:rPr sz="1200">
                <a:solidFill>
                  <a:srgbClr val="0F172A"/>
                </a:solidFill>
              </a:rPr>
              <a:t> with TTS caching at steady state) allows us to price at $0.10-0.25/interaction and maintain </a:t>
            </a:r>
            <a:r>
              <a:rPr sz="1200" b="1">
                <a:solidFill>
                  <a:srgbClr val="0F172A"/>
                </a:solidFill>
              </a:rPr>
              <a:t>70-85% gross margins</a:t>
            </a:r>
            <a:r>
              <a:rPr sz="1200">
                <a:solidFill>
                  <a:srgbClr val="0F172A"/>
                </a:solidFill>
              </a:rPr>
              <a:t> — comparable to SaaS economics, not healthcare services economics. A detailed cost analysis dashboard covers all 24 STT+LLM+TTS combinations with monthly projections.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Business Model — Multiple Revenue Streams, SaaS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Pricing Tiers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Tier | Price | Includes | Target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|------|-------|----------|--------|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Starter</a:t>
            </a:r>
            <a:r>
              <a:rPr sz="1200">
                <a:solidFill>
                  <a:srgbClr val="0F172A"/>
                </a:solidFill>
              </a:rPr>
              <a:t> | $500/month | 2,000 interactions, 1 language, basic personas | Small clinics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Professional</a:t>
            </a:r>
            <a:r>
              <a:rPr sz="1200">
                <a:solidFill>
                  <a:srgbClr val="0F172A"/>
                </a:solidFill>
              </a:rPr>
              <a:t> | $1,500/month | 10,000 interactions, 3 languages, all personas, analytics | Medium hospitals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Enterprise</a:t>
            </a:r>
            <a:r>
              <a:rPr sz="1200">
                <a:solidFill>
                  <a:srgbClr val="0F172A"/>
                </a:solidFill>
              </a:rPr>
              <a:t> | $3,000/month | Unlimited interactions, all languages, custom personas, EMR integration, SLA | Hospital chains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Kiosk</a:t>
            </a:r>
            <a:r>
              <a:rPr sz="1200">
                <a:solidFill>
                  <a:srgbClr val="0F172A"/>
                </a:solidFill>
              </a:rPr>
              <a:t> | $5,000 setup + $200/month | Hardware + software, self-service terminal | Reception replacement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Unit Economics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Metric | Value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|--------|-------|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Average Revenue Per Hospital | $1,500/month ($18K/year)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Cost per Interaction | $0.04-0.06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Average Interactions per Hospital | 3,000/month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Cost per Hospital | $150-180/month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Gross Margin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88-90%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Customer Acquisition Cost (CAC) | $2,000-5,000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Lifetime Value (LTV) | $54K (3-year retention)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LTV/CAC Ratio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11-27x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Path to Revenue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Quarter | Milestone | Revenue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|---------|-----------|---------|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Q2 2026 | 5 pilot hospitals (Pakistan) | $7.5K/month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Q4 2026 | 25 hospitals (Pakistan + UAE) | $37.5K/month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Q2 2027 | 100 hospitals (3 countries) | $150K/month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Q4 2027 | 300 hospitals (5 countries) | $450K/month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Q4 2028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1,000 hospitals</a:t>
            </a:r>
            <a:r>
              <a:rPr sz="1200">
                <a:solidFill>
                  <a:srgbClr val="0F172A"/>
                </a:solidFill>
              </a:rPr>
              <a:t> | </a:t>
            </a:r>
            <a:r>
              <a:rPr sz="1200" b="1">
                <a:solidFill>
                  <a:srgbClr val="0F172A"/>
                </a:solidFill>
              </a:rPr>
              <a:t>$1.5M/month ($18M ARR)</a:t>
            </a:r>
            <a:r>
              <a:rPr sz="1200">
                <a:solidFill>
                  <a:srgbClr val="0F172A"/>
                </a:solidFill>
              </a:rPr>
              <a:t>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Traction &amp; Proof Points — What We've Built and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Technical Milestones (Completed)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Milestone | Status | Details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|-----------|--------|---------|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Core voice pipeline | Done | STT → LLM → TTS with &lt;5s latency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6 language support | Done | Urdu, English, Hindi, Arabic, Punjabi, Malay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RTL/LTR auto-switching | Done | UI adapts direction per language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10 configurable personas | Done | 5M/5F with gender-appropriate grammar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12 specialty triage | Done | Full doctor panel with real-time availability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WebRTC audio | Done | Browser-based, zero installation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Session persistence | Done | Settings survive refresh, conversations logged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Settings lock during calls | Done | Prevents config changes during active sessions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Automated test suite | Done | 77 tests, 100% pass rate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Performance benchmarks | Done | All metrics under threshold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Dual STT providers | Done | Deepgram Nova-3 + OpenAI gpt-4o-transcribe, switchable from UI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TTS audio caching | Done | Disk-backed LRU (500 entries), ~85% cost savings at steady state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Patient screening card | Done | Real-time data extraction with printable triage slip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Symptom-to-vitals mapping | Done | 15-category intelligent vitals collection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Conversation flow stepper | Done | Visual progress: Name → Symptoms → Duration → Vitals → Refer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Live model switching | Done | Change LLM/TTS voice mid-call; STT changes on next session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Urdu script output | Done | Proper اردو رسم الخط instead of Roman Urdu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Cost analysis dashboard | Done | 24 combinations with monthly projections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Triage scoring engine | Done | 70+ conditions, 12 departments, real-time scoring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173 symptom aliases | Done | Urdu + English + Roman Urdu + mistranscriptions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Two-layer noise filtering | Done | Silero VAD (0.80) + Deepgram confidence (0.70)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Age/gender department rules | Done | Pediatrics age-gated, Gynecology gender-gated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Cross-condition boost | Done | +15% per additional strong condition in department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Exact symptom matching | Done | "cough" ≠ "persistent cough" (prevents cross-contamination)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Doctor availability check | Done | Unavailable doctors skipped in referral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Urdu triage tooltips | Done | All 199 symptoms with Urdu hover translations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Off-topic answer handling | Done | Re-asks unanswered symptom questions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Number-to-Urdu TTS | Done | Room "302" spoken as "تین سو دو"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Pure Urdu output | Done | No English word mixing in responses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188 triage scoring tests | Done | Scoring accuracy, alias expansion, referral scenarios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Key Performance Indicators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KPI | Target | Actual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|-----|--------|--------|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End-to-end voice latency | &lt; 5 seconds | 3-5 seconds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STT accuracy | &gt; 90% | 95%+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Triage test pass rate | 100% | 100% (188/188)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Platform test pass rate | 100% | 100% (77/77)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Symptom alias coverage | 100% | 100% (199/199 symptoms covered)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Page load time | &lt; 200ms | &lt; 50ms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Languages supported | 4+ | 6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Team — Experienced AI + Healthcare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Leadership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Dr. Aqib Mumtaz, Ph.D.</a:t>
            </a:r>
            <a:r>
              <a:rPr sz="1200">
                <a:solidFill>
                  <a:srgbClr val="0F172A"/>
                </a:solidFill>
              </a:rPr>
              <a:t> — Head of AI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Ph.D. in Computer Science (AI specialization), COMSATS University, Lahore (2019-2024)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Research collaboration with University of Bergen, Norway — Anomaly Detection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19+ years experience in AI/ML, Deep Learning, Computer Vision, NLP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Published researcher — 5 peer-reviewed papers in anomaly detection, video surveillance, deep learning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Expertise: ASR (OpenAI Whisper, Wave2Vec2), Transformer architectures, attention mechanisms, real-time AI systems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State-of-the-art AI stack: GPT-4o, Qwen3-ASR, Deepgram Nova-3, ElevenLabs neural TTS, WebRTC streaming, pipecat-ai orchestration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Previously led AI research teams of 22+ engineers (SlashNext — phishing detection AI)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Reviewed Pakistan's National AI Policy (ITU collaboration)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Award and Honour — University of Kagoshima, Japan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Core Competencies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Capability | Evidence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|-----------|---------|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ASR/NLP</a:t>
            </a:r>
            <a:r>
              <a:rPr sz="1200">
                <a:solidFill>
                  <a:srgbClr val="0F172A"/>
                </a:solidFill>
              </a:rPr>
              <a:t> | Production ASR system with 70,000+ ICD-10 codes, morphological indexing, fuzzy matching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Deep Learning</a:t>
            </a:r>
            <a:r>
              <a:rPr sz="1200">
                <a:solidFill>
                  <a:srgbClr val="0F172A"/>
                </a:solidFill>
              </a:rPr>
              <a:t> | Transformer architectures, attention mechanisms, Whisper fine-tuning, generative models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Real-time Systems</a:t>
            </a:r>
            <a:r>
              <a:rPr sz="1200">
                <a:solidFill>
                  <a:srgbClr val="0F172A"/>
                </a:solidFill>
              </a:rPr>
              <a:t> | WebRTC-based transcription bots running in production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Medical AI</a:t>
            </a:r>
            <a:r>
              <a:rPr sz="1200">
                <a:solidFill>
                  <a:srgbClr val="0F172A"/>
                </a:solidFill>
              </a:rPr>
              <a:t> | Symptom extraction, negation detection, drug/lab entity recognition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Multilingual</a:t>
            </a:r>
            <a:r>
              <a:rPr sz="1200">
                <a:solidFill>
                  <a:srgbClr val="0F172A"/>
                </a:solidFill>
              </a:rPr>
              <a:t> | Urdu, English, Hindi, Arabic, Punjabi, Malay — with cultural adaptation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Research</a:t>
            </a:r>
            <a:r>
              <a:rPr sz="1200">
                <a:solidFill>
                  <a:srgbClr val="0F172A"/>
                </a:solidFill>
              </a:rPr>
              <a:t> | 5 published papers, international collaborations (Norway, Japan)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Full-Stack</a:t>
            </a:r>
            <a:r>
              <a:rPr sz="1200">
                <a:solidFill>
                  <a:srgbClr val="0F172A"/>
                </a:solidFill>
              </a:rPr>
              <a:t> | Frontend, backend, infrastructure, cloud deployment — end-to-end delivery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Hiring Plan (with funding)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Role | Count | Timeline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|------|-------|----------|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AI/ML Engineer | 2 | Immediate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Full-Stack Developer | 1 | Month 1-2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Healthcare Domain Expert | 1 | Month 2-3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Business Development (MENA) | 1 | Month 1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DevOps / SRE | 1 | Month 3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What We're Asking For — Seed Round: $500K - $1M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Use of Funds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Category | Allocation | Purpose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|----------|-----------|---------|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Engineering</a:t>
            </a:r>
            <a:r>
              <a:rPr sz="1200">
                <a:solidFill>
                  <a:srgbClr val="0F172A"/>
                </a:solidFill>
              </a:rPr>
              <a:t> (50%) | $250-500K | 4-5 engineers for 12 months. EMR integration, analytics dashboard, kiosk hardware, phone integration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Go-to-Market</a:t>
            </a:r>
            <a:r>
              <a:rPr sz="1200">
                <a:solidFill>
                  <a:srgbClr val="0F172A"/>
                </a:solidFill>
              </a:rPr>
              <a:t> (25%) | $125-250K | 5 pilot deployments, sales team for Pakistan/UAE, marketing materials, conference presence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Infrastructure</a:t>
            </a:r>
            <a:r>
              <a:rPr sz="1200">
                <a:solidFill>
                  <a:srgbClr val="0F172A"/>
                </a:solidFill>
              </a:rPr>
              <a:t> (15%) | $75-150K | Cloud hosting, TURN servers, API costs for pilot hospitals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</a:t>
            </a:r>
            <a:r>
              <a:rPr sz="1200" b="1">
                <a:solidFill>
                  <a:srgbClr val="0F172A"/>
                </a:solidFill>
              </a:rPr>
              <a:t>Operations</a:t>
            </a:r>
            <a:r>
              <a:rPr sz="1200">
                <a:solidFill>
                  <a:srgbClr val="0F172A"/>
                </a:solidFill>
              </a:rPr>
              <a:t> (10%) | $50-100K | Legal (healthcare compliance), accounting, office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Milestones This Round Achieves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Timeline | Milestone | Metric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|----------|-----------|--------|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Month 3 | 5 pilot hospitals live | 5 paying customers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Month 6 | EMR integration (HL7/FHIR) | Enterprise feature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Month 9 | 25 hospitals across 2 countries | $37.5K MRR |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| Month 12 | Series A ready | $50K+ MRR, 50+ hospitals |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What Investors Get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Equity</a:t>
            </a:r>
            <a:r>
              <a:rPr sz="1200">
                <a:solidFill>
                  <a:srgbClr val="0F172A"/>
                </a:solidFill>
              </a:rPr>
              <a:t>: 15-20% (seed stage)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Market</a:t>
            </a:r>
            <a:r>
              <a:rPr sz="1200">
                <a:solidFill>
                  <a:srgbClr val="0F172A"/>
                </a:solidFill>
              </a:rPr>
              <a:t>: First-mover in RTL voice AI for healthcare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Technology</a:t>
            </a:r>
            <a:r>
              <a:rPr sz="1200">
                <a:solidFill>
                  <a:srgbClr val="0F172A"/>
                </a:solidFill>
              </a:rPr>
              <a:t>: Production-proven, 77-test-validated platform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Revenue path</a:t>
            </a:r>
            <a:r>
              <a:rPr sz="1200">
                <a:solidFill>
                  <a:srgbClr val="0F172A"/>
                </a:solidFill>
              </a:rPr>
              <a:t>: Clear unit economics with 88-90% gross margins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Expansion</a:t>
            </a:r>
            <a:r>
              <a:rPr sz="1200">
                <a:solidFill>
                  <a:srgbClr val="0F172A"/>
                </a:solidFill>
              </a:rPr>
              <a:t>: Each new language/country multiplies TAM without rebuilding core tech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Now? — The Convergence of Five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1. AI Quality Just Crossed the Threshold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GPT-4o-mini delivers human-level conversation quality at $0.01/interaction. Two years ago, this cost $1.00+ and was too slow for real-time voice.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2. Voice AI Infrastructure Matured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Deepgram, ElevenLabs, and Pipecat have made production-grade voice pipelines possible in weeks, not years. WebRTC handles browser audio natively.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3. Post-COVID Healthcare Digitalization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Hospitals are actively seeking automation. COVID proved that human-only reception is a single point of failure. Government healthcare digitalization programs are funded and active (Saudi Vision 2030, Malaysia MyDigital, Pakistan Digital Health).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4. Multilingual AI Just Became Viable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Until 2024, AI voice quality in Urdu, Arabic, and Hindi was poor. Nova-3 and multilingual TTS models now deliver production-quality in these languages for the first time.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5. Healthcare Staffing Crisis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Global healthcare worker shortage of 14.7 million (WHO, 2023), projected 11M by 2030. Reception staff turnover is 30-40% annually. AI doesn't call in sick, doesn't need training, and works 24/7.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36576"/>
            <a:ext cx="12118543" cy="10058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698480" cy="1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Ask —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What We Offer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Working product</a:t>
            </a:r>
            <a:r>
              <a:rPr sz="1200">
                <a:solidFill>
                  <a:srgbClr val="0F172A"/>
                </a:solidFill>
              </a:rPr>
              <a:t> — Not a concept. A production-ready AI clinical triage system you can demo today.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Real-time scoring</a:t>
            </a:r>
            <a:r>
              <a:rPr sz="1200">
                <a:solidFill>
                  <a:srgbClr val="0F172A"/>
                </a:solidFill>
              </a:rPr>
              <a:t> — 70+ conditions, 12 departments, live confidence percentages. 188 triage tests, 100% pass rate.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173 multilingual aliases</a:t>
            </a:r>
            <a:r>
              <a:rPr sz="1200">
                <a:solidFill>
                  <a:srgbClr val="0F172A"/>
                </a:solidFill>
              </a:rPr>
              <a:t> — Urdu, Roman Urdu, English, and common STT mistranscriptions. All 199 symptoms with Urdu tooltips.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Intelligent noise filtering</a:t>
            </a:r>
            <a:r>
              <a:rPr sz="1200">
                <a:solidFill>
                  <a:srgbClr val="0F172A"/>
                </a:solidFill>
              </a:rPr>
              <a:t> — Two-layer: Silero VAD (neural) + Deepgram confidence. Works in noisy hospital environments.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Scoring-LLM alignment</a:t>
            </a:r>
            <a:r>
              <a:rPr sz="1200">
                <a:solidFill>
                  <a:srgbClr val="0F172A"/>
                </a:solidFill>
              </a:rPr>
              <a:t> — Triage engine decides the doctor, LLM follows the directive. No conflicting recommendations.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Cultural intelligence</a:t>
            </a:r>
            <a:r>
              <a:rPr sz="1200">
                <a:solidFill>
                  <a:srgbClr val="0F172A"/>
                </a:solidFill>
              </a:rPr>
              <a:t> — Pure Urdu script, gender grammar, Islamic greetings, number-to-Urdu TTS.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Hospital-specific</a:t>
            </a:r>
            <a:r>
              <a:rPr sz="1200">
                <a:solidFill>
                  <a:srgbClr val="0F172A"/>
                </a:solidFill>
              </a:rPr>
              <a:t> — Configured for real doctors, rooms, schedules, and availability.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Cost-optimized</a:t>
            </a:r>
            <a:r>
              <a:rPr sz="1200">
                <a:solidFill>
                  <a:srgbClr val="0F172A"/>
                </a:solidFill>
              </a:rPr>
              <a:t> — TTS caching ~85%, dual STT providers, 265 automated tests.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Massive market</a:t>
            </a:r>
            <a:r>
              <a:rPr sz="1200">
                <a:solidFill>
                  <a:srgbClr val="0F172A"/>
                </a:solidFill>
              </a:rPr>
              <a:t> — 6,250+ hospitals across Pakistan, Saudi Arabia, UAE, Gulf, and Malaysia.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What We Need</a:t>
            </a:r>
          </a:p>
          <a:p>
            <a:pPr>
              <a:spcAft>
                <a:spcPts val="600"/>
              </a:spcAft>
            </a:pP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$500K-1M seed funding</a:t>
            </a:r>
            <a:r>
              <a:rPr sz="1200">
                <a:solidFill>
                  <a:srgbClr val="0F172A"/>
                </a:solidFill>
              </a:rPr>
              <a:t> to deploy in 25 hospitals and build enterprise features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Strategic partners</a:t>
            </a:r>
            <a:r>
              <a:rPr sz="1200">
                <a:solidFill>
                  <a:srgbClr val="0F172A"/>
                </a:solidFill>
              </a:rPr>
              <a:t> in healthcare (hospital chains, health ministries, healthcare IT vendors)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 b="1">
                <a:solidFill>
                  <a:srgbClr val="0F172A"/>
                </a:solidFill>
              </a:rPr>
              <a:t>Advisors</a:t>
            </a:r>
            <a:r>
              <a:rPr sz="1200">
                <a:solidFill>
                  <a:srgbClr val="0F172A"/>
                </a:solidFill>
              </a:rPr>
              <a:t> with healthcare operations and MENA/South Asia business experience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</a:rPr>
              <a:t>The Opportunity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The first company to own </a:t>
            </a:r>
            <a:r>
              <a:rPr sz="1200" b="1">
                <a:solidFill>
                  <a:srgbClr val="0F172A"/>
                </a:solidFill>
              </a:rPr>
              <a:t>voice AI at hospital reception</a:t>
            </a:r>
            <a:r>
              <a:rPr sz="1200">
                <a:solidFill>
                  <a:srgbClr val="0F172A"/>
                </a:solidFill>
              </a:rPr>
              <a:t> in South Asia and MENA will have an unassailable position. Every hospital is a potential customer. Every patient interaction builds our data moat. Every language we add multiplies our market.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We've built the technology. Now we need to deploy it.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172A"/>
                </a:solidFill>
              </a:rPr>
              <a:t>AI-Powered Healthcare Solutions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For demo, or inquiries:</a:t>
            </a:r>
          </a:p>
          <a:p>
            <a:pPr lvl="1">
              <a:spcAft>
                <a:spcPts val="300"/>
              </a:spcAft>
            </a:pPr>
            <a:r>
              <a:rPr sz="1200">
                <a:solidFill>
                  <a:srgbClr val="06B6D4"/>
                </a:solidFill>
              </a:rPr>
              <a:t>  ▸  </a:t>
            </a:r>
            <a:r>
              <a:rPr sz="1200">
                <a:solidFill>
                  <a:srgbClr val="0F172A"/>
                </a:solidFill>
              </a:rPr>
              <a:t>Email: aqib.mumtaz@gmail.com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---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0F172A"/>
                </a:solidFill>
              </a:rPr>
              <a:t>*Confidential. For authorized stakeholders only. Financial projections are estimates based on current market research and are subject to change. This presentation does not constitute an offer of securities.*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