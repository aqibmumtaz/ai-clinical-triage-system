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3383280"/>
            <a:ext cx="27432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914400"/>
            <a:ext cx="73152" cy="2286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AI Clinical Triage System</a:t>
            </a:r>
          </a:p>
          <a:p>
            <a:pPr algn="l">
              <a:spcBef>
                <a:spcPts val="800"/>
              </a:spcBef>
              <a:defRPr sz="1800">
                <a:solidFill>
                  <a:srgbClr val="818CF8"/>
                </a:solidFill>
              </a:defRPr>
            </a:pPr>
            <a:r>
              <a:t>Project Overview Document</a:t>
            </a:r>
          </a:p>
          <a:p>
            <a:pPr algn="l">
              <a:spcBef>
                <a:spcPts val="800"/>
              </a:spcBef>
              <a:defRPr sz="1800">
                <a:solidFill>
                  <a:srgbClr val="818CF8"/>
                </a:solidFill>
              </a:defRPr>
            </a:pPr>
            <a:r>
              <a:t>March 2026 — v2.0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64748B"/>
                </a:solidFill>
              </a:defRPr>
            </a:pPr>
            <a:r>
              <a:t>AI-Powered Clinical Triage for Hospital Reception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94A3B8"/>
                </a:solidFill>
              </a:defRPr>
            </a:pPr>
            <a:r>
              <a:t>Dr. Aqib Mumtaz, Ph.D. — Head of AI</a:t>
            </a:r>
          </a:p>
          <a:p>
            <a:pPr algn="l">
              <a:defRPr sz="1100">
                <a:solidFill>
                  <a:srgbClr val="64748B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Project Overview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Document Version:</a:t>
            </a:r>
            <a:r>
              <a:rPr sz="1200">
                <a:solidFill>
                  <a:srgbClr val="0F172A"/>
                </a:solidFill>
              </a:rPr>
              <a:t> 3.0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Date:</a:t>
            </a:r>
            <a:r>
              <a:rPr sz="1200">
                <a:solidFill>
                  <a:srgbClr val="0F172A"/>
                </a:solidFill>
              </a:rPr>
              <a:t> March 22, 2026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Author:</a:t>
            </a:r>
            <a:r>
              <a:rPr sz="1200">
                <a:solidFill>
                  <a:srgbClr val="0F172A"/>
                </a:solidFill>
              </a:rPr>
              <a:t> Dr. Aqib Mumtaz, Ph.D. — Head of AI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Classification:</a:t>
            </a:r>
            <a:r>
              <a:rPr sz="1200">
                <a:solidFill>
                  <a:srgbClr val="0F172A"/>
                </a:solidFill>
              </a:rPr>
              <a:t> Confidential — For Internal &amp; Stakeholder Review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1. 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Our AI Clinical Triage System is a </a:t>
            </a:r>
            <a:r>
              <a:rPr sz="1200" b="1">
                <a:solidFill>
                  <a:srgbClr val="0F172A"/>
                </a:solidFill>
              </a:rPr>
              <a:t>voice-first, multilingual clinical triage platform</a:t>
            </a:r>
            <a:r>
              <a:rPr sz="1200">
                <a:solidFill>
                  <a:srgbClr val="0F172A"/>
                </a:solidFill>
              </a:rPr>
              <a:t> designed to automate patient intake at hospitals and clinics. The system conducts natural voice conversations with patients in their preferred language, collects symptoms, scores them against a disease cluster database using an intelligent triage scoring engine, and routes patients to the appropriate specialist — all in real-time, without human intervention.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The platform currently supports </a:t>
            </a:r>
            <a:r>
              <a:rPr sz="1200" b="1">
                <a:solidFill>
                  <a:srgbClr val="0F172A"/>
                </a:solidFill>
              </a:rPr>
              <a:t>6 languages</a:t>
            </a:r>
            <a:r>
              <a:rPr sz="1200">
                <a:solidFill>
                  <a:srgbClr val="0F172A"/>
                </a:solidFill>
              </a:rPr>
              <a:t> (Urdu, English, Hindi, Arabic, Punjabi, Malay), </a:t>
            </a:r>
            <a:r>
              <a:rPr sz="1200" b="1">
                <a:solidFill>
                  <a:srgbClr val="0F172A"/>
                </a:solidFill>
              </a:rPr>
              <a:t>12 medical specialties</a:t>
            </a:r>
            <a:r>
              <a:rPr sz="1200">
                <a:solidFill>
                  <a:srgbClr val="0F172A"/>
                </a:solidFill>
              </a:rPr>
              <a:t>, </a:t>
            </a:r>
            <a:r>
              <a:rPr sz="1200" b="1">
                <a:solidFill>
                  <a:srgbClr val="0F172A"/>
                </a:solidFill>
              </a:rPr>
              <a:t>70+ medical conditions</a:t>
            </a:r>
            <a:r>
              <a:rPr sz="1200">
                <a:solidFill>
                  <a:srgbClr val="0F172A"/>
                </a:solidFill>
              </a:rPr>
              <a:t>, </a:t>
            </a:r>
            <a:r>
              <a:rPr sz="1200" b="1">
                <a:solidFill>
                  <a:srgbClr val="0F172A"/>
                </a:solidFill>
              </a:rPr>
              <a:t>199 symptoms with 173 Urdu/English aliases</a:t>
            </a:r>
            <a:r>
              <a:rPr sz="1200">
                <a:solidFill>
                  <a:srgbClr val="0F172A"/>
                </a:solidFill>
              </a:rPr>
              <a:t>, and delivers end-to-end voice response times under </a:t>
            </a:r>
            <a:r>
              <a:rPr sz="1200" b="1">
                <a:solidFill>
                  <a:srgbClr val="0F172A"/>
                </a:solidFill>
              </a:rPr>
              <a:t>5 seconds</a:t>
            </a:r>
            <a:r>
              <a:rPr sz="1200">
                <a:solidFill>
                  <a:srgbClr val="0F172A"/>
                </a:solidFill>
              </a:rPr>
              <a:t>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Key Metrics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Metric | Value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|--------|-------|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Languages Supported | 6 (expandable to 30+)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Medical Specialties | 12 departments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Medical Conditions | 70+ (disease clusters with ICD-10 codes)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Symptom Aliases | 173 entries covering 199 condition symptoms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Triage Scoring Tests | 188 tests, 100% pass rate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Voice Response Time | 3-5 seconds end-to-end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STT Options | Deepgram Nova-3, OpenAI gpt-4o-transcribe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STT Noise Filtering | Two-layer: Silero VAD (0.80) + Deepgram confidence (0.70)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Concurrent Sessions | Scalable via cloud deployment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Availability | 24/7/365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Total Automated Tests | 265 tests, 100% pass rate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2.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The Hospital Reception Bottleneck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Hospitals in South Asia, the Middle East, and Southeast Asia face critical challenges at their front desk: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1. </a:t>
            </a:r>
            <a:r>
              <a:rPr sz="1200" b="1">
                <a:solidFill>
                  <a:srgbClr val="0F172A"/>
                </a:solidFill>
              </a:rPr>
              <a:t>Long wait times</a:t>
            </a:r>
            <a:r>
              <a:rPr sz="1200">
                <a:solidFill>
                  <a:srgbClr val="0F172A"/>
                </a:solidFill>
              </a:rPr>
              <a:t> — Patients wait 15-45 minutes for basic registration and triage, especially during peak hours.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2. </a:t>
            </a:r>
            <a:r>
              <a:rPr sz="1200" b="1">
                <a:solidFill>
                  <a:srgbClr val="0F172A"/>
                </a:solidFill>
              </a:rPr>
              <a:t>Language barriers</a:t>
            </a:r>
            <a:r>
              <a:rPr sz="1200">
                <a:solidFill>
                  <a:srgbClr val="0F172A"/>
                </a:solidFill>
              </a:rPr>
              <a:t> — Multilingual populations (Pakistan: Urdu/Punjabi/English; Malaysia: Malay/English/Mandarin; UAE: Arabic/Urdu/Hindi/English) create communication gaps with reception staff.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3. </a:t>
            </a:r>
            <a:r>
              <a:rPr sz="1200" b="1">
                <a:solidFill>
                  <a:srgbClr val="0F172A"/>
                </a:solidFill>
              </a:rPr>
              <a:t>Inconsistent triage</a:t>
            </a:r>
            <a:r>
              <a:rPr sz="1200">
                <a:solidFill>
                  <a:srgbClr val="0F172A"/>
                </a:solidFill>
              </a:rPr>
              <a:t> — Junior receptionists lack medical knowledge to properly route patients, leading to wrong department visits and wasted time.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4. </a:t>
            </a:r>
            <a:r>
              <a:rPr sz="1200" b="1">
                <a:solidFill>
                  <a:srgbClr val="0F172A"/>
                </a:solidFill>
              </a:rPr>
              <a:t>Staff shortages</a:t>
            </a:r>
            <a:r>
              <a:rPr sz="1200">
                <a:solidFill>
                  <a:srgbClr val="0F172A"/>
                </a:solidFill>
              </a:rPr>
              <a:t> — Qualified medical receptionists are expensive and hard to retain, especially for 24/7 coverage.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5. </a:t>
            </a:r>
            <a:r>
              <a:rPr sz="1200" b="1">
                <a:solidFill>
                  <a:srgbClr val="0F172A"/>
                </a:solidFill>
              </a:rPr>
              <a:t>No documentation</a:t>
            </a:r>
            <a:r>
              <a:rPr sz="1200">
                <a:solidFill>
                  <a:srgbClr val="0F172A"/>
                </a:solidFill>
              </a:rPr>
              <a:t> — Verbal interactions at reception are lost — no record of initial complaints for the doctor.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6. </a:t>
            </a:r>
            <a:r>
              <a:rPr sz="1200" b="1">
                <a:solidFill>
                  <a:srgbClr val="0F172A"/>
                </a:solidFill>
              </a:rPr>
              <a:t>Peak hour collapse</a:t>
            </a:r>
            <a:r>
              <a:rPr sz="1200">
                <a:solidFill>
                  <a:srgbClr val="0F172A"/>
                </a:solidFill>
              </a:rPr>
              <a:t> — Emergency situations overwhelm reception, delaying care for non-emergency patients.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Market Size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Market | 2024 Value | Projected | CAGR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|--------|-----------|-----------|------|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Global Healthcare AI | $14.9B | $110.6B by 2030 | 38.6%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Conversational AI in Healthcare | $13.7B | $48.9B by 2030 | 23.8%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Middle East Healthcare AI | $436M | $8.4B by 2033 | 37.0%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Middle East Hospital Services | $114B | $172.8B by 2033 | 4.7%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*Sources: Grand View Research, MarketsandMarkets, BCC Research (2024-2025)*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Target Market Infrastructure: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Country | Hospitals | Healthcare Market | Key Driver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|---------|-----------|-------------------|------------|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Pakistan | 1,830 (1,147 public + 683 private) | $7B | 240M population, 4+ languages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Saudi Arabia | 2,590 (290 hospitals + 2,300 centers) | $67B | Vision 2030 — $65B investment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UAE | 972 | $22B → $50B by 2029 | 8% CAGR, premium spend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Qatar | 100+ | $12B | #1 Arab world healthcare ranking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Malaysia | 355 (148 public + 207 private) | $28B → $48B by 2028 | MyDigital, 13.5% CAGR |</a:t>
            </a:r>
          </a:p>
          <a:p>
            <a:pPr>
              <a:spcAft>
                <a:spcPts val="600"/>
              </a:spcAft>
            </a:pP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&lt;5% of hospitals</a:t>
            </a:r>
            <a:r>
              <a:rPr sz="1200">
                <a:solidFill>
                  <a:srgbClr val="0F172A"/>
                </a:solidFill>
              </a:rPr>
              <a:t> in these regions have any form of AI automation at reception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Average hospital spends $180K-$350K/year</a:t>
            </a:r>
            <a:r>
              <a:rPr sz="1200">
                <a:solidFill>
                  <a:srgbClr val="0F172A"/>
                </a:solidFill>
              </a:rPr>
              <a:t> on front desk staffing (3-shift coverage)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*Sources: WHO EMRO, Statista, US-Saudi Business Council, UAE Open Data, Malaysia MOH (2024)*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3. Solution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3.1 System Overview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3.2 Technology Stack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Layer | Technology | Why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|-------|-----------|-----|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Voice Activity Detection</a:t>
            </a:r>
            <a:r>
              <a:rPr sz="1200">
                <a:solidFill>
                  <a:srgbClr val="0F172A"/>
                </a:solidFill>
              </a:rPr>
              <a:t> | Silero VAD (neural ONNX) | Filters background noise — confidence=0.6, min_volume=0.5, stop_secs=0.6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Speech-to-Text</a:t>
            </a:r>
            <a:r>
              <a:rPr sz="1200">
                <a:solidFill>
                  <a:srgbClr val="0F172A"/>
                </a:solidFill>
              </a:rPr>
              <a:t> | ConfidenceFilteredDeepgramSTT / OpenAI gpt-4o-transcribe | Dual STT with confidence-based noise filtering (drops &lt; 0.70). Switchable from settings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Language Model</a:t>
            </a:r>
            <a:r>
              <a:rPr sz="1200">
                <a:solidFill>
                  <a:srgbClr val="0F172A"/>
                </a:solidFill>
              </a:rPr>
              <a:t> | OpenAI GPT-4o-mini / GPT-4o / Claude | Follows triage directive — MUST refer to highest-scoring department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Triage Scoring Engine</a:t>
            </a:r>
            <a:r>
              <a:rPr sz="1200">
                <a:solidFill>
                  <a:srgbClr val="0F172A"/>
                </a:solidFill>
              </a:rPr>
              <a:t> | Custom Python (disease_clusters.json) | 70+ conditions, 173 aliases, exact matching, cross-condition boost, age/gender rules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Text-to-Speech</a:t>
            </a:r>
            <a:r>
              <a:rPr sz="1200">
                <a:solidFill>
                  <a:srgbClr val="0F172A"/>
                </a:solidFill>
              </a:rPr>
              <a:t> | OpenAI TTS-1 / ElevenLabs Flash v2.5 | Multi-sentence audio caching, number-to-Urdu conversion for Urdu TTS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Audio Transport</a:t>
            </a:r>
            <a:r>
              <a:rPr sz="1200">
                <a:solidFill>
                  <a:srgbClr val="0F172A"/>
                </a:solidFill>
              </a:rPr>
              <a:t> | WebRTC (STUN/TURN) | Real-time bidirectional audio with built-in echo cancellation. Works through NAT/firewalls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Pipeline</a:t>
            </a:r>
            <a:r>
              <a:rPr sz="1200">
                <a:solidFill>
                  <a:srgbClr val="0F172A"/>
                </a:solidFill>
              </a:rPr>
              <a:t> | Pipecat-AI 0.0.85 | Async frame-based pipeline: VAD → STT → Broadcaster → LLM → Response → TTS Cache → TTS → Audio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Backend</a:t>
            </a:r>
            <a:r>
              <a:rPr sz="1200">
                <a:solidFill>
                  <a:srgbClr val="0F172A"/>
                </a:solidFill>
              </a:rPr>
              <a:t> | FastAPI (Python) | HTTP, WebSocket, WebRTC endpoints. Tool-based LLM integration with patient screening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Frontend</a:t>
            </a:r>
            <a:r>
              <a:rPr sz="1200">
                <a:solidFill>
                  <a:srgbClr val="0F172A"/>
                </a:solidFill>
              </a:rPr>
              <a:t> | Single-file HTML/CSS/JS | Real-time triage dashboard with Urdu tooltips, patient screening card, cost analysis |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3.3 Triage Scoring Engine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The core intelligence of the system — a real-time scoring algorithm that matches patient symptoms against 70+ medical conditions organized in 12 departments.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Scoring Pipeline: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1. </a:t>
            </a:r>
            <a:r>
              <a:rPr sz="1200" b="1">
                <a:solidFill>
                  <a:srgbClr val="0F172A"/>
                </a:solidFill>
              </a:rPr>
              <a:t>Symptom Alias Expansion</a:t>
            </a:r>
            <a:r>
              <a:rPr sz="1200">
                <a:solidFill>
                  <a:srgbClr val="0F172A"/>
                </a:solidFill>
              </a:rPr>
              <a:t> — Patient symptoms (in any language/script) are expanded via 173-entry alias lookup. "کھانسی" → "cough", "سینے میں درد" → "chest pain", "نیند نہیں آتی" → "insomnia"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2. </a:t>
            </a:r>
            <a:r>
              <a:rPr sz="1200" b="1">
                <a:solidFill>
                  <a:srgbClr val="0F172A"/>
                </a:solidFill>
              </a:rPr>
              <a:t>Per-Original-Symptom Matching</a:t>
            </a:r>
            <a:r>
              <a:rPr sz="1200">
                <a:solidFill>
                  <a:srgbClr val="0F172A"/>
                </a:solidFill>
              </a:rPr>
              <a:t> — Each patient symptom matches at most ONE condition symptom, preventing alias chain inflation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3. </a:t>
            </a:r>
            <a:r>
              <a:rPr sz="1200" b="1">
                <a:solidFill>
                  <a:srgbClr val="0F172A"/>
                </a:solidFill>
              </a:rPr>
              <a:t>Exact Word-Set Matching</a:t>
            </a:r>
            <a:r>
              <a:rPr sz="1200">
                <a:solidFill>
                  <a:srgbClr val="0F172A"/>
                </a:solidFill>
              </a:rPr>
              <a:t> — "cough" matches "cough" but NOT "persistent cough" (clinically different symptoms)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4. </a:t>
            </a:r>
            <a:r>
              <a:rPr sz="1200" b="1">
                <a:solidFill>
                  <a:srgbClr val="0F172A"/>
                </a:solidFill>
              </a:rPr>
              <a:t>Vital Boost</a:t>
            </a:r>
            <a:r>
              <a:rPr sz="1200">
                <a:solidFill>
                  <a:srgbClr val="0F172A"/>
                </a:solidFill>
              </a:rPr>
              <a:t> — +10% per matching vital (BP, heart rate, temperature, sugar, mobility, fever)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5. </a:t>
            </a:r>
            <a:r>
              <a:rPr sz="1200" b="1">
                <a:solidFill>
                  <a:srgbClr val="0F172A"/>
                </a:solidFill>
              </a:rPr>
              <a:t>Severity Boost</a:t>
            </a:r>
            <a:r>
              <a:rPr sz="1200">
                <a:solidFill>
                  <a:srgbClr val="0F172A"/>
                </a:solidFill>
              </a:rPr>
              <a:t> — +5% when patient severity matches condition severity levels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6. </a:t>
            </a:r>
            <a:r>
              <a:rPr sz="1200" b="1">
                <a:solidFill>
                  <a:srgbClr val="0F172A"/>
                </a:solidFill>
              </a:rPr>
              <a:t>Cross-Condition Boost</a:t>
            </a:r>
            <a:r>
              <a:rPr sz="1200">
                <a:solidFill>
                  <a:srgbClr val="0F172A"/>
                </a:solidFill>
              </a:rPr>
              <a:t> — When symptoms match multiple conditions in a department, confidence increases: `best_score + best_score × 0.15 × (strong_conditions - 1)`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7. </a:t>
            </a:r>
            <a:r>
              <a:rPr sz="1200" b="1">
                <a:solidFill>
                  <a:srgbClr val="0F172A"/>
                </a:solidFill>
              </a:rPr>
              <a:t>Department Selection Rules</a:t>
            </a:r>
            <a:r>
              <a:rPr sz="1200">
                <a:solidFill>
                  <a:srgbClr val="0F172A"/>
                </a:solidFill>
              </a:rPr>
              <a:t> — Age-gated: Pediatrics zeroed for adults (≥12). Gender-gated: Gynecology zeroed for males. Unknown age: 70% penalty on Pediatrics unless child-specific symptoms present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8. </a:t>
            </a:r>
            <a:r>
              <a:rPr sz="1200" b="1">
                <a:solidFill>
                  <a:srgbClr val="0F172A"/>
                </a:solidFill>
              </a:rPr>
              <a:t>Doctor Availability Check</a:t>
            </a:r>
            <a:r>
              <a:rPr sz="1200">
                <a:solidFill>
                  <a:srgbClr val="0F172A"/>
                </a:solidFill>
              </a:rPr>
              <a:t> — Unavailable doctors skipped in referral directive; [NOT AVAILABLE] tag shown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9. </a:t>
            </a:r>
            <a:r>
              <a:rPr sz="1200" b="1">
                <a:solidFill>
                  <a:srgbClr val="0F172A"/>
                </a:solidFill>
              </a:rPr>
              <a:t>Directive Referral</a:t>
            </a:r>
            <a:r>
              <a:rPr sz="1200">
                <a:solidFill>
                  <a:srgbClr val="0F172A"/>
                </a:solidFill>
              </a:rPr>
              <a:t> — Triage returns explicit "REFER TO → Dr. Name, Department, Room" — the LLM MUST follow this directive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Scoring Formula: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Noise Filtering (Three-Layer Defense, no audio processing filters):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Layer | Technology | Threshold | Purpose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|-------|-----------|-----------|-----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4. Core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4.1 Multilingual Voice Interaction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The system natively handles 6 languages with automatic text direction (RTL/LTR) support: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Language | Region | Direction | Script | Cultural Adaptation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|----------|--------|-----------|--------|-------------------|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Urdu | Pakistan, India | RTL | Nastaliq | آپ/جناب forms, Islamic greetings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English | Global | LTR | Latin | Professional medical terminology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Hindi | India | LTR | Devanagari | Respectful "aap" forms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Arabic | Middle East | RTL | Arabic | Islamic honorifics, Gulf dialect awareness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Punjabi | Pakistan, India | RTL | Shahmukhi | Regional expressions, cultural warmth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Malay | Malaysia, Indonesia | LTR | Latin | Formal "Encik/Puan" honorifics |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4.2 Configurable Agent Personas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10 pre-built personas with gender-appropriate voice, grammar, and cultural behavior: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Persona | Gender | Voice Provider | Voice | Use Case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|---------|--------|---------------|-------|----------|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Amina | Female | OpenAI | Nova | Default — warm, caring receptionist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Ayesha | Female | OpenAI | Shimmer | Professional, efficient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Fatima | Female | OpenAI | Alloy | Friendly, approachable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Hira | Female | ElevenLabs | Rachel | Premium natural voice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Sarah | Female | ElevenLabs | Sarah | Gentle, reassuring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Ali | Male | OpenAI | Echo | Professional male agent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Hassan | Male | OpenAI | Onyx | Deep, authoritative voice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Ahmed | Male | OpenAI | Fable | Warm, storyteller quality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Bilal | Male | ElevenLabs | Drew | Natural conversational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Usman | Male | ElevenLabs | Paul | Calm, measured delivery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Each persona adapts: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Grammatical gender</a:t>
            </a:r>
            <a:r>
              <a:rPr sz="1200">
                <a:solidFill>
                  <a:srgbClr val="0F172A"/>
                </a:solidFill>
              </a:rPr>
              <a:t> — Urdu masculine/feminine verb endings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Cultural honorifics</a:t>
            </a:r>
            <a:r>
              <a:rPr sz="1200">
                <a:solidFill>
                  <a:srgbClr val="0F172A"/>
                </a:solidFill>
              </a:rPr>
              <a:t> — Gender-appropriate terms of address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Voice characteristics</a:t>
            </a:r>
            <a:r>
              <a:rPr sz="1200">
                <a:solidFill>
                  <a:srgbClr val="0F172A"/>
                </a:solidFill>
              </a:rPr>
              <a:t> — Matching TTS voice and tone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Personality traits</a:t>
            </a:r>
            <a:r>
              <a:rPr sz="1200">
                <a:solidFill>
                  <a:srgbClr val="0F172A"/>
                </a:solidFill>
              </a:rPr>
              <a:t> — Warm, Professional, or Friendly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4.3 Real-Time Disease Cluster Triage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The triage scoring engine scores patient symptoms in real-time against a disease cluster database. Each department shows a live confidence percentage on the triage dashboard. The system maps patient symptoms (including Urdu aliases) to 12 specialist departments and 70+ conditions: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Symptom Category | Specialist | Room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|-----------------|-----------|------|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Fever, flu, general illness | General Medicine | 101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Chest pain, blood pressure | Cardiology | 302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Pregnancy, women's health | Gynecology | 205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Children's illness, vaccination | Pediatrics | 108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Bone fractures, joint pain | Orthopedics | 210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Skin rash, allergies | Dermatology | 115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Ear, nose, throat | ENT | 118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Eye problems, vision | Ophthalmology | 122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Headaches, seizures | Neurology | 310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Toothache, dental | Dentistry | G-05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Stomach pain, digestion | Gastroenterology | 215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Anxiety, depression | Psychiatry | 320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Severe/Life-threatening</a:t>
            </a:r>
            <a:r>
              <a:rPr sz="1200">
                <a:solidFill>
                  <a:srgbClr val="0F172A"/>
                </a:solidFill>
              </a:rPr>
              <a:t> | </a:t>
            </a:r>
            <a:r>
              <a:rPr sz="1200" b="1">
                <a:solidFill>
                  <a:srgbClr val="0F172A"/>
                </a:solidFill>
              </a:rPr>
              <a:t>Emergency</a:t>
            </a:r>
            <a:r>
              <a:rPr sz="1200">
                <a:solidFill>
                  <a:srgbClr val="0F172A"/>
                </a:solidFill>
              </a:rPr>
              <a:t> | </a:t>
            </a:r>
            <a:r>
              <a:rPr sz="1200" b="1">
                <a:solidFill>
                  <a:srgbClr val="0F172A"/>
                </a:solidFill>
              </a:rPr>
              <a:t>Ground Floor</a:t>
            </a:r>
            <a:r>
              <a:rPr sz="1200">
                <a:solidFill>
                  <a:srgbClr val="0F172A"/>
                </a:solidFill>
              </a:rPr>
              <a:t>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The agent checks doctor availability in real-time and suggests alternatives when a specialist is unava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5. Technical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5.1 Latency Breakdown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Stage | Typical Latency | Component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|-------|----------------|-----------|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Speech Detection (VAD) | ~300ms | Pipecat built-in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STT Processing | ~500ms | Deepgram Nova-3 / OpenAI gpt-4o-transcribe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LLM First Token | ~800ms | GPT-4o-mini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LLM Full Response | ~1500ms | GPT-4o-mini (2-4 sentences)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TTS First Audio | ~500ms (~0ms cached) | OpenAI TTS-1 streaming (cache hit = instant)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Total End-to-End</a:t>
            </a:r>
            <a:r>
              <a:rPr sz="1200">
                <a:solidFill>
                  <a:srgbClr val="0F172A"/>
                </a:solidFill>
              </a:rPr>
              <a:t> | </a:t>
            </a:r>
            <a:r>
              <a:rPr sz="1200" b="1">
                <a:solidFill>
                  <a:srgbClr val="0F172A"/>
                </a:solidFill>
              </a:rPr>
              <a:t>~3-5 seconds</a:t>
            </a:r>
            <a:r>
              <a:rPr sz="1200">
                <a:solidFill>
                  <a:srgbClr val="0F172A"/>
                </a:solidFill>
              </a:rPr>
              <a:t> | - |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5.2 Automated Test Results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265 automated tests covering 17 categories — </a:t>
            </a:r>
            <a:r>
              <a:rPr sz="1200" b="1">
                <a:solidFill>
                  <a:srgbClr val="0F172A"/>
                </a:solidFill>
              </a:rPr>
              <a:t>100% pass rate</a:t>
            </a:r>
            <a:r>
              <a:rPr sz="1200">
                <a:solidFill>
                  <a:srgbClr val="0F172A"/>
                </a:solidFill>
              </a:rPr>
              <a:t>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Triage Scoring Engine Tests (188 tests):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Category | Tests | Status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|----------|-------|--------|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Scoring Accuracy | 8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Department Ranking | 11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Vital Combinations | 7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Alias Expansion (Urdu/English) | 11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Referral Scenarios | 11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Score Differentiation | 7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Symptom-Doctor Mapping | 4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Triage Feedback Loop | 5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Department Selection Rules | 8 | PASS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Platform Tests (77 tests):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Category | Tests | Status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|----------|-------|--------|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API Endpoints | 4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WebSocket Protocol | 5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Session Management | 4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Settings Configuration | 16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System Prompt Generation | 15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Performance Benchmarks | 6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Frontend Integrity | 16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Model Configuration Matrix | 11 | PASS |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5.3 Performance Benchmarks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Metric | Threshold | Actual | Status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|--------|-----------|--------|--------|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Page Load | &lt; 200ms | &lt; 50ms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WebSocket Connect | &lt; 500ms | &lt; 100ms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Setting Roundtrip | &lt; 300ms | &lt; 150ms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Stop Action | &lt; 500ms | &lt; 200ms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Session Persistence | &lt; 500ms | &lt; 200ms | PASS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5 Concurrent Connections | &lt; 2000ms | &lt; 500ms | PASS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6. Deployment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6.1 Cloud Deployment (Recommended)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Container</a:t>
            </a:r>
            <a:r>
              <a:rPr sz="1200">
                <a:solidFill>
                  <a:srgbClr val="0F172A"/>
                </a:solidFill>
              </a:rPr>
              <a:t>: Docker image (~500MB)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Scaling</a:t>
            </a:r>
            <a:r>
              <a:rPr sz="1200">
                <a:solidFill>
                  <a:srgbClr val="0F172A"/>
                </a:solidFill>
              </a:rPr>
              <a:t>: Horizontal — each pod handles ~50 concurrent sessions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TURN servers</a:t>
            </a:r>
            <a:r>
              <a:rPr sz="1200">
                <a:solidFill>
                  <a:srgbClr val="0F172A"/>
                </a:solidFill>
              </a:rPr>
              <a:t>: Required for WebRTC in corporate/hospital networks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SSL</a:t>
            </a:r>
            <a:r>
              <a:rPr sz="1200">
                <a:solidFill>
                  <a:srgbClr val="0F172A"/>
                </a:solidFill>
              </a:rPr>
              <a:t>: Required for WebRTC in production (browser security policy)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6.2 On-Premise Kiosk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A tablet or touchscreen kiosk at the hospital entrance: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Patient walks up, taps "Start"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Speaks into built-in microphone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Agent responds through speakers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Prints a triage slip with doctor assignment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6.3 Phone/IVR Integration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Future: Connect to hospital phone system via SIP/Twilio: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Patient calls hospital number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AI agent answers, conducts triage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Transfers to appropriate department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7. Competitive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Feature | Our Solution | Ada Health | Babylon Health | Generic Chatbot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|---------|----------|-----------|---------------|----------------|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Voice-first interaction</a:t>
            </a:r>
            <a:r>
              <a:rPr sz="1200">
                <a:solidFill>
                  <a:srgbClr val="0F172A"/>
                </a:solidFill>
              </a:rPr>
              <a:t> | Yes | No (text only) | Limited | No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Multilingual (6+ languages)</a:t>
            </a:r>
            <a:r>
              <a:rPr sz="1200">
                <a:solidFill>
                  <a:srgbClr val="0F172A"/>
                </a:solidFill>
              </a:rPr>
              <a:t> | Yes | 10+ (text) | English/German | Varies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RTL language support</a:t>
            </a:r>
            <a:r>
              <a:rPr sz="1200">
                <a:solidFill>
                  <a:srgbClr val="0F172A"/>
                </a:solidFill>
              </a:rPr>
              <a:t> | Yes (Urdu, Arabic, Punjabi) | Partial | No | No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Real-time streaming</a:t>
            </a:r>
            <a:r>
              <a:rPr sz="1200">
                <a:solidFill>
                  <a:srgbClr val="0F172A"/>
                </a:solidFill>
              </a:rPr>
              <a:t> | Yes (WebRTC) | N/A | N/A | N/A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Cultural adaptation</a:t>
            </a:r>
            <a:r>
              <a:rPr sz="1200">
                <a:solidFill>
                  <a:srgbClr val="0F172A"/>
                </a:solidFill>
              </a:rPr>
              <a:t> | Yes (gender, honorifics) | No | No | No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Disease cluster scoring</a:t>
            </a:r>
            <a:r>
              <a:rPr sz="1200">
                <a:solidFill>
                  <a:srgbClr val="0F172A"/>
                </a:solidFill>
              </a:rPr>
              <a:t> | Yes (70+ conditions, real-time %) | No | No | No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Symptom alias matching</a:t>
            </a:r>
            <a:r>
              <a:rPr sz="1200">
                <a:solidFill>
                  <a:srgbClr val="0F172A"/>
                </a:solidFill>
              </a:rPr>
              <a:t> | 173 aliases (Urdu/English/Roman) | Limited | English only | No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Hospital-specific triage</a:t>
            </a:r>
            <a:r>
              <a:rPr sz="1200">
                <a:solidFill>
                  <a:srgbClr val="0F172A"/>
                </a:solidFill>
              </a:rPr>
              <a:t> | Yes (12 specialties, ICD-10) | General health | General health | No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Doctor availability</a:t>
            </a:r>
            <a:r>
              <a:rPr sz="1200">
                <a:solidFill>
                  <a:srgbClr val="0F172A"/>
                </a:solidFill>
              </a:rPr>
              <a:t> | Real-time with auto-fallback | No | No | No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Background noise filtering</a:t>
            </a:r>
            <a:r>
              <a:rPr sz="1200">
                <a:solidFill>
                  <a:srgbClr val="0F172A"/>
                </a:solidFill>
              </a:rPr>
              <a:t> | Two-layer (VAD + STT confidence) | N/A | N/A | N/A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On-premise deployment</a:t>
            </a:r>
            <a:r>
              <a:rPr sz="1200">
                <a:solidFill>
                  <a:srgbClr val="0F172A"/>
                </a:solidFill>
              </a:rPr>
              <a:t> | Yes | Cloud only | Cloud only | Varies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Cost per interaction</a:t>
            </a:r>
            <a:r>
              <a:rPr sz="1200">
                <a:solidFill>
                  <a:srgbClr val="0F172A"/>
                </a:solidFill>
              </a:rPr>
              <a:t> | ~$0.05-0.15 | $0.50+ | $1.00+ | $0.01-0.05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Setup time</a:t>
            </a:r>
            <a:r>
              <a:rPr sz="1200">
                <a:solidFill>
                  <a:srgbClr val="0F172A"/>
                </a:solidFill>
              </a:rPr>
              <a:t> | Hours | Weeks | Months | Hours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8. 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8.1 Revenue Streams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Model | Pricing | Target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|-------|---------|--------|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SaaS Subscription</a:t>
            </a:r>
            <a:r>
              <a:rPr sz="1200">
                <a:solidFill>
                  <a:srgbClr val="0F172A"/>
                </a:solidFill>
              </a:rPr>
              <a:t> | $500-2,000/month per hospital | Small-medium hospitals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Enterprise License</a:t>
            </a:r>
            <a:r>
              <a:rPr sz="1200">
                <a:solidFill>
                  <a:srgbClr val="0F172A"/>
                </a:solidFill>
              </a:rPr>
              <a:t> | $20,000-50,000/year | Hospital chains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Per-Interaction</a:t>
            </a:r>
            <a:r>
              <a:rPr sz="1200">
                <a:solidFill>
                  <a:srgbClr val="0F172A"/>
                </a:solidFill>
              </a:rPr>
              <a:t> | $0.10-0.25 per patient interaction | High-volume clinics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Kiosk Hardware + Software</a:t>
            </a:r>
            <a:r>
              <a:rPr sz="1200">
                <a:solidFill>
                  <a:srgbClr val="0F172A"/>
                </a:solidFill>
              </a:rPr>
              <a:t> | $5,000 one-time + $200/month | Reception replacement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White-Label</a:t>
            </a:r>
            <a:r>
              <a:rPr sz="1200">
                <a:solidFill>
                  <a:srgbClr val="0F172A"/>
                </a:solidFill>
              </a:rPr>
              <a:t> | Custom pricing | Healthcare IT vendors |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8.2 Cost Structure (Per Interaction)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Component | Cost (Uncached) | Cost (Cached) | Notes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|-----------|----------------|---------------|-------|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Deepgram STT | ~$0.0059/min | ~$0.0059/min | Nova-3 pay-as-you-go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OpenAI STT | ~$0.006/min | ~$0.006/min | gpt-4o-transcribe (alternative)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OpenAI LLM | ~$0.01-0.03 | ~$0.01-0.03 | GPT-4o-mini (~500 tokens)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OpenAI TTS | ~$0.015/1K chars | ~$0.002/1K chars | TTS-1 — ~85% cache hit rate at steady state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Infrastructure | ~$0.005 | ~$0.005 | Cloud compute + bandwidth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Total</a:t>
            </a:r>
            <a:r>
              <a:rPr sz="1200">
                <a:solidFill>
                  <a:srgbClr val="0F172A"/>
                </a:solidFill>
              </a:rPr>
              <a:t> | </a:t>
            </a:r>
            <a:r>
              <a:rPr sz="1200" b="1">
                <a:solidFill>
                  <a:srgbClr val="0F172A"/>
                </a:solidFill>
              </a:rPr>
              <a:t>~$0.04-0.06</a:t>
            </a:r>
            <a:r>
              <a:rPr sz="1200">
                <a:solidFill>
                  <a:srgbClr val="0F172A"/>
                </a:solidFill>
              </a:rPr>
              <a:t> | </a:t>
            </a:r>
            <a:r>
              <a:rPr sz="1200" b="1">
                <a:solidFill>
                  <a:srgbClr val="0F172A"/>
                </a:solidFill>
              </a:rPr>
              <a:t>~$0.02-0.04</a:t>
            </a:r>
            <a:r>
              <a:rPr sz="1200">
                <a:solidFill>
                  <a:srgbClr val="0F172A"/>
                </a:solidFill>
              </a:rPr>
              <a:t> | Per 3-minute interaction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With TTS caching enabled, steady-state cost drops by ~30-40%. At $0.15/interaction pricing, </a:t>
            </a:r>
            <a:r>
              <a:rPr sz="1200" b="1">
                <a:solidFill>
                  <a:srgbClr val="0F172A"/>
                </a:solidFill>
              </a:rPr>
              <a:t>gross margin is ~70-85%</a:t>
            </a:r>
            <a:r>
              <a:rPr sz="1200">
                <a:solidFill>
                  <a:srgbClr val="0F172A"/>
                </a:solidFill>
              </a:rPr>
              <a:t>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8.3 ROI for Hospitals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Metric | Without AI | With AI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|--------|-----------|---------|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Reception staff (3 shifts) | 6-9 staff | 2-3 staff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Annual staff cost | $180K-350K | $60K-120K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AI system cost | $0 | $12K-24K/year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Annual savings</a:t>
            </a:r>
            <a:r>
              <a:rPr sz="1200">
                <a:solidFill>
                  <a:srgbClr val="0F172A"/>
                </a:solidFill>
              </a:rPr>
              <a:t> | - | </a:t>
            </a:r>
            <a:r>
              <a:rPr sz="1200" b="1">
                <a:solidFill>
                  <a:srgbClr val="0F172A"/>
                </a:solidFill>
              </a:rPr>
              <a:t>$100K-200K+</a:t>
            </a:r>
            <a:r>
              <a:rPr sz="1200">
                <a:solidFill>
                  <a:srgbClr val="0F172A"/>
                </a:solidFill>
              </a:rPr>
              <a:t>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Patient wait time | 15-45 min | 2-5 min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24/7 coverage | No (costly) | Yes (included)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Triage accuracy | 70-80% | 90%+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Documentation | None | Full transcript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9.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Phase 1 — Current (Q1 2026)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Core voice pipeline (STT → LLM → TTS)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6 language support with RTL/LTR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10 configurable personas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12 specialty triage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WebRTC browser audio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77 automated tests, 100% pass rate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Session persistence and settings management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Dual STT providers (Deepgram Nova-3 + OpenAI gpt-4o-transcribe)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TTS audio caching (~85% cost reduction at steady state)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Real-time patient screening card with live data extraction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Symptom-to-vitals mapping (15 categories)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Conversation flow stepper (Name → Symptoms → Duration → Vitals → Refer)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Live model switching (LLM, TTS voice during call; STT on next session)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Patient data TTS suppression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Urdu script output (proper رسم الخط instead of Roman Urdu)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Cost analysis dashboard (24 STT+LLM+TTS combinations)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Print triage slip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Real-time triage scoring engine (70+ conditions, 12 departments)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Disease cluster database with 173 symptom aliases (Urdu + English)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Two-layer noise filtering (Silero VAD + Deepgram confidence)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Age/gender-aware department selection rules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Cross-condition confidence boost for multi-condition departments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Exact symptom matching (prevents cross-contamination)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Doctor availability check in referral directives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Urdu tooltips on all triage symptom tags (199 symptoms)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Off-topic answer handling (re-asks unanswered symptom questions)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Number-to-Urdu TTS conversion (room numbers spoken in Urdu)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Pure Urdu output (no English word mixing)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[x] 188 triage scoring tests, 100% pass rate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Phase 2 — Q2 2026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Patient registration form auto-fill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Electronic Medical Record (EMR) integration (HL7/FHIR)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Appointment scheduling with calendar integration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SMS/WhatsApp follow-up messages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Queue management system integration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Analytics dashboard (interaction volume, wait times, triage accuracy)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Phase 3 — Q3-Q4 2026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On-premise kiosk hardware design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Phone/IVR integration (Twilio/SIP)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Multi-hospital deployment (cloud-native)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Custom medical knowledge base per hospital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Voice biometric patient identification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Wheelchair/escort auto-dispatch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Phase 4 — 2027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FDA/CE medical device pre-certification (Class I)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Insurance verification integration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Multi-tenant SaaS platform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Mobile app (iOS/Android)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[ ] Regional language expansion (Bengali, Tamil, Turkish, Bahasa Indonesia)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10. Team &amp;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Head of AI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Dr. Aqib Mumtaz, Ph.D.</a:t>
            </a:r>
            <a:r>
              <a:rPr sz="1200">
                <a:solidFill>
                  <a:srgbClr val="0F172A"/>
                </a:solidFill>
              </a:rPr>
              <a:t> — Head of AI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Ph.D. in Computer Science (AI specialization), COMSATS University, Lahore (2019-2024)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Research collaboration with University of Bergen, Norway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19+ years experience across AI/ML, Deep Learning, Computer Vision, NLP, and ASR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Published researcher — 5 peer-reviewed papers (anomaly detection, video surveillance, deep learning)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Core expertise: Transformer architectures, OpenAI Whisper, attention mechanisms, real-time AI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State-of-the-art AI technologies: Large Language Models (GPT-4o, Qwen3-ASR), WebRTC real-time streaming, pipecat-ai pipeline orchestration, Deepgram Nova-3 STT, ElevenLabs neural TTS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Led AI research teams of 22+ engineers; reviewed Pakistan's National AI Policy (ITU)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Team Growth Plan (with funding)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Role | Count | Priority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|------|-------|----------|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AI/ML Engineer | 2 | High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Full-Stack Developer | 1 | High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DevOps / Cloud Engineer | 1 | Medium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Healthcare Domain Expert | 1 | Medium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UI/UX Designer | 1 | Medium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Business Development | 1 | High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QA Engineer | 1 | Medium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11. Risk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Risk | Impact | Likelihood | Mitigation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|------|--------|-----------|-----------|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STT accuracy in noisy hospital | High | Medium | Two-layer noise filtering: Silero VAD (0.80 confidence) + ConfidenceFilteredDeepgramSTT (drops &lt; 0.70). Endpointing synced at 900ms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LLM refers wrong doctor | High | Low | Triage scoring engine returns directive "REFER TO →" — LLM must follow. Scoring applies age/gender rules, doctor availability. 188 tests validate scoring accuracy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Scoring-LLM misalignment | Medium | Low | Department selection rules removed from system prompt (scoring handles them). LLM follows triage directive, not its own judgment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Alias cross-contamination | Medium | Low | Exact word-set matching prevents "cough" matching "persistent cough". All 173 aliases audited — zero harmful cross-department aliases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Internet outage | High | Low | On-premise fallback mode, offline triage rules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Data privacy (patient info) | Critical | Medium | End-to-end encryption, no PII storage, HIPAA/local compliance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API cost escalation | Medium | Low | TTS audio caching (~85% hit rate), dual STT providers for cost optimization, model switching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Patient reluctance (elderly) | Medium | High | Kiosk with large buttons, human fallback, gradual adoption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12. 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AI-Powered Healthcare Solutions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For demo, or inquiries: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Email: aqib.mumtaz@gmail.com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*This document is confidential and intended for authorized personnel and stakeholders only. All financial projections are estimates based on current market data and are subject to change.*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